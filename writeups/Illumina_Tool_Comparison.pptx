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50" b="1">
                <a:solidFill>
                  <a:srgbClr val="1A1A17"/>
                </a:solidFill>
              </a:rPr>
              <a:t>Trimmomatic read survival by sample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Trimmomatic reads surviving (%)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SRR908437</c:v>
                </c:pt>
                <c:pt idx="1">
                  <c:v>SRR908434</c:v>
                </c:pt>
                <c:pt idx="2">
                  <c:v>SRR908441</c:v>
                </c:pt>
                <c:pt idx="3">
                  <c:v>SRR908446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14.2</c:v>
                </c:pt>
                <c:pt idx="1">
                  <c:v>13.0</c:v>
                </c:pt>
                <c:pt idx="2">
                  <c:v>30.3</c:v>
                </c:pt>
                <c:pt idx="3">
                  <c:v>66.5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50" b="1">
                <a:solidFill>
                  <a:srgbClr val="1A1A17"/>
                </a:solidFill>
              </a:rPr>
              <a:t>Consensus length (bp) — valid window 8,000–10,000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BWA consensus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SRR908437</c:v>
                </c:pt>
                <c:pt idx="1">
                  <c:v>SRR908434</c:v>
                </c:pt>
                <c:pt idx="2">
                  <c:v>SRR908441</c:v>
                </c:pt>
                <c:pt idx="3">
                  <c:v>SRR908446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9719</c:v>
                </c:pt>
                <c:pt idx="1">
                  <c:v>9719</c:v>
                </c:pt>
                <c:pt idx="2">
                  <c:v>9719</c:v>
                </c:pt>
                <c:pt idx="3">
                  <c:v>9719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SPAdes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SRR908437</c:v>
                </c:pt>
                <c:pt idx="1">
                  <c:v>SRR908434</c:v>
                </c:pt>
                <c:pt idx="2">
                  <c:v>SRR908441</c:v>
                </c:pt>
                <c:pt idx="3">
                  <c:v>SRR908446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420</c:v>
                </c:pt>
                <c:pt idx="1">
                  <c:v>684</c:v>
                </c:pt>
                <c:pt idx="2">
                  <c:v>1786</c:v>
                </c:pt>
                <c:pt idx="3">
                  <c:v>1275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50" b="1">
                <a:solidFill>
                  <a:srgbClr val="1A1A17"/>
                </a:solidFill>
              </a:rPr>
              <a:t>Runtime per tool (seconds)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Runtime (s)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jpHMM (per sample)</c:v>
                </c:pt>
                <c:pt idx="1">
                  <c:v>IQ-TREE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627</c:v>
                </c:pt>
                <c:pt idx="1">
                  <c:v>1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50" b="1">
                <a:solidFill>
                  <a:srgbClr val="1A1A17"/>
                </a:solidFill>
              </a:rPr>
              <a:t>TFBS hits per factor (subset)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FIMO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NF-κB p65</c:v>
                </c:pt>
                <c:pt idx="1">
                  <c:v>SP1</c:v>
                </c:pt>
                <c:pt idx="2">
                  <c:v>NFAT</c:v>
                </c:pt>
                <c:pt idx="3">
                  <c:v>TBP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TFBSTools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NF-κB p65</c:v>
                </c:pt>
                <c:pt idx="1">
                  <c:v>SP1</c:v>
                </c:pt>
                <c:pt idx="2">
                  <c:v>NFAT</c:v>
                </c:pt>
                <c:pt idx="3">
                  <c:v>TBP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15</c:v>
                </c:pt>
                <c:pt idx="2">
                  <c:v>15</c:v>
                </c:pt>
                <c:pt idx="3">
                  <c:v>20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MSc BIOINFORMATICS INTERNSHIP  ·  RAKAI / MAKERERE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82880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A1A17"/>
                </a:solidFill>
                <a:latin typeface="Segoe UI"/>
              </a:rPr>
              <a:t>Illumina (FLIP-Seq) Tool-Comparison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9692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 i="0">
                <a:solidFill>
                  <a:srgbClr val="565550"/>
                </a:solidFill>
                <a:latin typeface="Segoe UI"/>
              </a:rPr>
              <a:t>Evidence-based tool selection for the HIV-1 proviral U3 analysis pipeline — every automatable candidate tool from the tools review, run side-by-side on a 4-sample Illumina subset (SRR908437 / 434 / 441 / 446), one comparison per pipeline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8F8D85"/>
                </a:solidFill>
                <a:latin typeface="Segoe UI"/>
              </a:rPr>
              <a:t>Jovita Nagawa  · 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1  ·  DOWNLOAD &amp; QUALITY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Tools, configuration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572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7"/>
                </a:solidFill>
                <a:latin typeface="Segoe UI"/>
              </a:rPr>
              <a:t>  FastQC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86B18"/>
                </a:solidFill>
                <a:latin typeface="Segoe UI"/>
              </a:rPr>
              <a:t>  fastp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Trimmomatic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Kraken2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011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A1A17"/>
                </a:solidFill>
                <a:latin typeface="Segoe UI"/>
              </a:rPr>
              <a:t>What was done &amp;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5623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fastp vs Trimmomatic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 compared for trimming; FastQC gives the shared pre-trim baseline.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Both held to the same bar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 — sliding window 4:15, LEADING/TRAILING 3, MINLEN 50, AVGQUAL 15.</a:t>
            </a:r>
            <a:r>
              <a:rPr sz="1300" b="0" i="1">
                <a:solidFill>
                  <a:srgbClr val="8F8D85"/>
                </a:solidFill>
                <a:latin typeface="Segoe UI"/>
              </a:rPr>
              <a:t> so the comparison reflects the algorithms, not the settings.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fastp with --cut_right + --dedup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; Kraken2 (16 GB standard DB) drops human/bacterial reads, keeps viral + unclassified.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5440680"/>
            <a:ext cx="5486400" cy="960120"/>
          </a:xfrm>
          <a:prstGeom prst="roundRect">
            <a:avLst/>
          </a:prstGeom>
          <a:solidFill>
            <a:srgbClr val="F4E6DF"/>
          </a:solidFill>
          <a:ln w="9525">
            <a:solidFill>
              <a:srgbClr val="E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150" b="1" i="0">
                <a:solidFill>
                  <a:srgbClr val="C8603A"/>
                </a:solidFill>
                <a:latin typeface="Segoe UI"/>
              </a:rPr>
              <a:t>Finding  </a:t>
            </a:r>
          </a:p>
          <a:p>
            <a:r>
              <a:rPr sz="1250" b="0" i="0">
                <a:solidFill>
                  <a:srgbClr val="1A1A17"/>
                </a:solidFill>
                <a:latin typeface="Segoe UI"/>
              </a:rPr>
              <a:t>fastp is the better trimmer here — same quality bar, far higher yield and ~3x faster. Host contamination is real and highly sample-variable (7%–45% of reads), so Kraken2 filtering is essential, not optional.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55080" y="1828800"/>
          <a:ext cx="52578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55080" y="5029200"/>
          <a:ext cx="525780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276"/>
                <a:gridCol w="1524762"/>
                <a:gridCol w="1524762"/>
              </a:tblGrid>
              <a:tr h="29260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A1A17"/>
                          </a:solidFill>
                          <a:latin typeface="Segoe UI"/>
                        </a:rPr>
                        <a:t>Sample</a:t>
                      </a:r>
                    </a:p>
                  </a:txBody>
                  <a:tcPr marT="25400" marB="25400" marL="76200" marR="76200">
                    <a:solidFill>
                      <a:srgbClr val="F4E6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7"/>
                          </a:solidFill>
                          <a:latin typeface="Segoe UI"/>
                        </a:rPr>
                        <a:t>fastp reads</a:t>
                      </a:r>
                    </a:p>
                  </a:txBody>
                  <a:tcPr marT="25400" marB="25400" marL="76200" marR="76200">
                    <a:solidFill>
                      <a:srgbClr val="F4E6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7"/>
                          </a:solidFill>
                          <a:latin typeface="Segoe UI"/>
                        </a:rPr>
                        <a:t>Kraken2 kept</a:t>
                      </a:r>
                    </a:p>
                  </a:txBody>
                  <a:tcPr marT="25400" marB="25400" marL="76200" marR="76200">
                    <a:solidFill>
                      <a:srgbClr val="F4E6D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SRR908437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128,126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93%*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SRR908446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2,796,110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55% (host!)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1  ·  DOWNLOAD &amp; QUALITY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Challenges &amp; resolutions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600200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600200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Kraken2 was declared in the environment but never actually invoked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Contamination filtering was effectively missing.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Wired Kraken2 in as a real step with a bash/awk ancestor-walk over the DB's nodes.dmp — no external taxonomy tool.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3063239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" y="3063239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Kraken2 database is not bundled by conda (~16 GB, &gt;50 GB RAM)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Needs a separate download.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Documented the exact source + build in kraken2_standard_16gb_db/SOURCE.md for reproducibility.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4526279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" y="4526279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fastp and Trimmomatic report different survival metrics (count vs %)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Not directly comparable at face value.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Recorded both native metrics and held both tools to identical thresholds; the qualitative result is robust.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2  ·  GENOME ASSEMBLY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Tools, configuration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572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86B18"/>
                </a:solidFill>
                <a:latin typeface="Segoe UI"/>
              </a:rPr>
              <a:t>  BWA + bcftools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SPAdes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SHIVER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011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A1A17"/>
                </a:solidFill>
                <a:latin typeface="Segoe UI"/>
              </a:rPr>
              <a:t>What was done &amp;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5623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Reference-guided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 (BWA→HXB2 + bcftools consensus) vs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de novo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 (SPAdes) vs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sample-specific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 (SHIVER, LANL 2021 alignment).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SPAdes pinned to 3.15.5</a:t>
            </a:r>
            <a:r>
              <a:rPr sz="1300" b="0" i="1">
                <a:solidFill>
                  <a:srgbClr val="8F8D85"/>
                </a:solidFill>
                <a:latin typeface="Segoe UI"/>
              </a:rPr>
              <a:t> — 4.x crashes with SIGILL (no AVX2 on this node).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Validity = 8–10 kb full-genome window; SPAdes contig chosen by best HXB2 BLAST hit.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5440680"/>
            <a:ext cx="5486400" cy="960120"/>
          </a:xfrm>
          <a:prstGeom prst="roundRect">
            <a:avLst/>
          </a:prstGeom>
          <a:solidFill>
            <a:srgbClr val="F4E6DF"/>
          </a:solidFill>
          <a:ln w="9525">
            <a:solidFill>
              <a:srgbClr val="E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150" b="1" i="0">
                <a:solidFill>
                  <a:srgbClr val="C8603A"/>
                </a:solidFill>
                <a:latin typeface="Segoe UI"/>
              </a:rPr>
              <a:t>Finding  </a:t>
            </a:r>
          </a:p>
          <a:p>
            <a:r>
              <a:rPr sz="1250" b="0" i="0">
                <a:solidFill>
                  <a:srgbClr val="1A1A17"/>
                </a:solidFill>
                <a:latin typeface="Segoe UI"/>
              </a:rPr>
              <a:t>BWA + bcftools consensus is the clear winner for this cohort: full-length (9,719 bp, 0% N) on all 4 samples regardless of depth. SPAdes fragments badly (420–1,786 bp) and gets worse after contamination removal — de novo is coverage-sensitive here. SHIVER pending its final fix.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55080" y="1828800"/>
          <a:ext cx="52578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2  ·  GENOME ASSEMBLY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Challenges &amp; resolutions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600200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600200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SPAdes 4.x crashed with SIGILL on every sample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Bioconda's default build needs AVX2/FMA, absent on this CPU.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Pinned spades=3.15.5 (last pre-4.x release) — runs to completion.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3063239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" y="3063239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SPAdes quality is coverage-sensitive — and got worse after Kraken2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Removing ~45% of contaminated reads dropped the one good sample below threshold too.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Documented as a real finding; BWA (reference-guided) was unaffected.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4526279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" y="4526279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SHIVER needed a manual LANL alignment, then hit a missing bc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(1) No static URL for the compendium alignment — automated with a documented curl recipe. (2) shiver_init quits because compute nodes lack bc —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added bc to the environment (re-run pending).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3  ·  MULTIPLE SEQUENCE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Tools, configuration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572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86B18"/>
                </a:solidFill>
                <a:latin typeface="Segoe UI"/>
              </a:rPr>
              <a:t>  MAFFT (L-INS-i)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MUSCLE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Clustal Omega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011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A1A17"/>
                </a:solidFill>
                <a:latin typeface="Segoe UI"/>
              </a:rPr>
              <a:t>What was done &amp;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5623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Aligned HXB2 + the 4 sample consensus sequences with each tool.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MAFFT as L-INS-i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 (--localpair --maxiterate 1000).</a:t>
            </a:r>
            <a:r>
              <a:rPr sz="1300" b="0" i="1">
                <a:solidFill>
                  <a:srgbClr val="8F8D85"/>
                </a:solidFill>
                <a:latin typeface="Segoe UI"/>
              </a:rPr>
              <a:t> review's pick: highest base-pair accuracy on divergent A1/D, needed for U3 coordinate mapping.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MUSCLE pinned to 3.8; Clustal Omega with --force. All three kept 5/5 sequences.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5440680"/>
            <a:ext cx="5486400" cy="960120"/>
          </a:xfrm>
          <a:prstGeom prst="roundRect">
            <a:avLst/>
          </a:prstGeom>
          <a:solidFill>
            <a:srgbClr val="F4E6DF"/>
          </a:solidFill>
          <a:ln w="9525">
            <a:solidFill>
              <a:srgbClr val="E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150" b="1" i="0">
                <a:solidFill>
                  <a:srgbClr val="C8603A"/>
                </a:solidFill>
                <a:latin typeface="Segoe UI"/>
              </a:rPr>
              <a:t>Finding  </a:t>
            </a:r>
          </a:p>
          <a:p>
            <a:r>
              <a:rPr sz="1250" b="0" i="0">
                <a:solidFill>
                  <a:srgbClr val="1A1A17"/>
                </a:solidFill>
                <a:latin typeface="Segoe UI"/>
              </a:rPr>
              <a:t>MAFFT L-INS-i is the pick: the most accurate mode for divergent HIV, and on this small set also the fastest (79 s vs 116 s MUSCLE, 205 s Clustal Ω). The coloured U3 alignment (right) shows near-complete conservation across the 5 sequences at the resolution the motif scan depends on.</a:t>
            </a:r>
          </a:p>
        </p:txBody>
      </p:sp>
      <p:pic>
        <p:nvPicPr>
          <p:cNvPr id="10" name="Picture 9" descr="msa_u3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28800"/>
            <a:ext cx="5257800" cy="9740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3  ·  MULTIPLE SEQUENCE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Challenges &amp; resolutions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600200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600200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MUSCLE 5.3 crashed with SIGILL on this node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Same AVX2 limitation as SPAdes.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Pinned muscle=3.8* (no AVX2 requirement; note its CLI is -in/-out, not v5's -align/-output).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3063239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" y="3063239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MAFFT lowercases its output — motif tools read that as 'masked'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FIMO / MOODS treat lowercase as soft-masked and skip it, silently giving zero hits.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Forced the U3 extraction output to uppercase so scanners see real sequence.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4  ·  BIOLOGICAL FILTERING &amp; INTACTNESS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Tools, configuration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572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7"/>
                </a:solidFill>
                <a:latin typeface="Segoe UI"/>
              </a:rPr>
              <a:t>  Poplars (Hypermut 3)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HIVSeqinR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HIVIntact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011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A1A17"/>
                </a:solidFill>
                <a:latin typeface="Segoe UI"/>
              </a:rPr>
              <a:t>What was done &amp;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5623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Two-stage filter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 per the review: Poplars screens APOBEC G→A hypermutation, then structural intactness via HIVSeqinR / HIVIntact.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Input built HXB2-first</a:t>
            </a:r>
            <a:r>
              <a:rPr sz="1300" b="0" i="1">
                <a:solidFill>
                  <a:srgbClr val="8F8D85"/>
                </a:solidFill>
                <a:latin typeface="Segoe UI"/>
              </a:rPr>
              <a:t> — Poplars uses the first record as its hypermutation reference.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HIVIntact run with --subtype A1 for this cohort.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5440680"/>
            <a:ext cx="5486400" cy="960120"/>
          </a:xfrm>
          <a:prstGeom prst="roundRect">
            <a:avLst/>
          </a:prstGeom>
          <a:solidFill>
            <a:srgbClr val="F4E6DF"/>
          </a:solidFill>
          <a:ln w="9525">
            <a:solidFill>
              <a:srgbClr val="E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150" b="1" i="0">
                <a:solidFill>
                  <a:srgbClr val="C8603A"/>
                </a:solidFill>
                <a:latin typeface="Segoe UI"/>
              </a:rPr>
              <a:t>Finding  </a:t>
            </a:r>
          </a:p>
          <a:p>
            <a:r>
              <a:rPr sz="1250" b="0" i="0">
                <a:solidFill>
                  <a:srgbClr val="1A1A17"/>
                </a:solidFill>
                <a:latin typeface="Segoe UI"/>
              </a:rPr>
              <a:t>The two-stage filter is viable: Poplars completed the hypermutation screen and HIVIntact ran (0 intact / 5 non-intact). But HIVIntact is subtype-B-optimised, so its A1/D calls are a cautious cross-check — HIVSeqinR (explicitly Rakai A1/D-validated) is the primary intactness caller once its run is finalised.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55080" y="1920240"/>
          <a:ext cx="525780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276"/>
                <a:gridCol w="3049524"/>
              </a:tblGrid>
              <a:tr h="29260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A1A17"/>
                          </a:solidFill>
                          <a:latin typeface="Segoe UI"/>
                        </a:rPr>
                        <a:t>Tool</a:t>
                      </a:r>
                    </a:p>
                  </a:txBody>
                  <a:tcPr marT="25400" marB="25400" marL="76200" marR="76200">
                    <a:solidFill>
                      <a:srgbClr val="F4E6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7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marT="25400" marB="25400" marL="76200" marR="76200">
                    <a:solidFill>
                      <a:srgbClr val="F4E6D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Poplars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hypermutation screen ran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HIVIntact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0 intact / 5 non-intact*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HIVSeqinR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Rakai standard — pending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4  ·  BIOLOGICAL FILTERING &amp; INTACTNESS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Challenges &amp; resolutions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600200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600200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HIVIntact failed on a pkg_resources import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A newer setuptools removed the module it depends on.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Pinned setuptools&lt;81 in its setup — HIVIntact then runs.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3063239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" y="3063239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Poplars has no console entry point (python -m poplars fails)</a:t>
            </a:r>
          </a:p>
          <a:p>
            <a:pPr>
              <a:spcBef>
                <a:spcPts val="300"/>
              </a:spcBef>
            </a:pPr>
            <a:r>
              <a:rPr sz="1250" b="1" i="0">
                <a:solidFill>
                  <a:srgbClr val="0CA30C"/>
                </a:solidFill>
                <a:latin typeface="Segoe UI"/>
              </a:rPr>
              <a:t>Invoked hypermut.py directly, with HXB2 as the first FASTA record (its implicit reference).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4526279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" y="4526279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HIVIntact heuristics are subtype-B optimised — bias risk on A1/D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Its intact/defective calls can be skewed for this cohort.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Flagged interpret-with-caution; HIVSeqinR is the primary A1/D-validated classifier.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5  ·  SUBTYPE &amp; RECOMBINATION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Tools, configuration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572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86B18"/>
                </a:solidFill>
                <a:latin typeface="Segoe UI"/>
              </a:rPr>
              <a:t>  jpHMM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IQ-TREE 2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COMET/REGA (web-only)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011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A1A17"/>
                </a:solidFill>
                <a:latin typeface="Segoe UI"/>
              </a:rPr>
              <a:t>What was done &amp;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5623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jpHMM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 calls per-sample recombination breakpoints (bundled HIV alignment + priors);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IQ-TREE 2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 confirms clustering with an ML tree.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IQ-TREE with -m MFP (ModelFinder auto-selects the model).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Bootstrap -B 1000 dropped for the small subset</a:t>
            </a:r>
            <a:r>
              <a:rPr sz="1300" b="0" i="1">
                <a:solidFill>
                  <a:srgbClr val="8F8D85"/>
                </a:solidFill>
                <a:latin typeface="Segoe UI"/>
              </a:rPr>
              <a:t> — IQ-TREE refuses UFBoot with too few distinct sequences; re-added for the full cohort.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5440680"/>
            <a:ext cx="5486400" cy="960120"/>
          </a:xfrm>
          <a:prstGeom prst="roundRect">
            <a:avLst/>
          </a:prstGeom>
          <a:solidFill>
            <a:srgbClr val="F4E6DF"/>
          </a:solidFill>
          <a:ln w="9525">
            <a:solidFill>
              <a:srgbClr val="E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150" b="1" i="0">
                <a:solidFill>
                  <a:srgbClr val="C8603A"/>
                </a:solidFill>
                <a:latin typeface="Segoe UI"/>
              </a:rPr>
              <a:t>Finding  </a:t>
            </a:r>
          </a:p>
          <a:p>
            <a:r>
              <a:rPr sz="1250" b="0" i="0">
                <a:solidFill>
                  <a:srgbClr val="1A1A17"/>
                </a:solidFill>
                <a:latin typeface="Segoe UI"/>
              </a:rPr>
              <a:t>jpHMM + IQ-TREE 2 is a workable pairing: jpHMM produced per-sample recombination/breakpoint maps and IQ-TREE confirmed the clustering. jpHMM dominates runtime (~10 min/sample, run 4×) while the ML tree over 5 sequences is ~1 s — so jpHMM is the step to parallelise for the full cohort.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55080" y="1828800"/>
          <a:ext cx="52578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5  ·  SUBTYPE &amp; RECOMBINATION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Challenges &amp; resolutions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600200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600200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jpHMM aborted on a shared-library version conflict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An inherited LD_LIBRARY_PATH shadowed a required GLIBCXX version.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Fixed the library path in its wrapper so jpHMM loads the correct runtime.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3063239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" y="3063239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IQ-TREE 2 refused ultrafast bootstrap on the small subset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Too few effectively-distinct sequences for UFBoot.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Dropped -B 1000 for the comparison; re-enabled for the full-cohort tree.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4526279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" y="4526279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Binary-name drift: iqtree2 vs iqtree3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Unpinned resolves to IQ-TREE 3 (different binary name).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Pinned iqtree=2.* to match the review's cited version.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6  ·  U3 EXTRACTION &amp; MOTIF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Tools, configuration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572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7"/>
                </a:solidFill>
                <a:latin typeface="Segoe UI"/>
              </a:rPr>
              <a:t>  SeqKit (U3)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FIMO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MOODS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TFBSTools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gquad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pqsfinder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011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A1A17"/>
                </a:solidFill>
                <a:latin typeface="Segoe UI"/>
              </a:rPr>
              <a:t>What was done &amp;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5623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Extracted U3 (453 bp, 5 seqs)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 from the MAFFT alignment, anchored to HXB2's annotated LTR coordinates.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TFBS scanners use JASPAR 2024 PWMs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 for 6 TFs (NF-κB p65/p50, SP1, NFAT, AP-1, TBP); FIMO threshold 1e-4.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G-quadruplex methodology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 — gquad: regex on G-tract runs + loop lengths (four G≥3 tracts, short loops); pqsfinder: exhaustive, imperfection-tolerant search (tolerates bulges/mismatches). Both scan raw U3 — no PWM.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Each tool runs an HXB2 positive control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5440680"/>
            <a:ext cx="5486400" cy="960120"/>
          </a:xfrm>
          <a:prstGeom prst="roundRect">
            <a:avLst/>
          </a:prstGeom>
          <a:solidFill>
            <a:srgbClr val="F4E6DF"/>
          </a:solidFill>
          <a:ln w="9525">
            <a:solidFill>
              <a:srgbClr val="E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150" b="1" i="0">
                <a:solidFill>
                  <a:srgbClr val="C8603A"/>
                </a:solidFill>
                <a:latin typeface="Segoe UI"/>
              </a:rPr>
              <a:t>Finding  </a:t>
            </a:r>
          </a:p>
          <a:p>
            <a:r>
              <a:rPr sz="1250" b="0" i="0">
                <a:solidFill>
                  <a:srgbClr val="1A1A17"/>
                </a:solidFill>
                <a:latin typeface="Segoe UI"/>
              </a:rPr>
              <a:t>TFBS: FIMO and TFBSTools agree on the dominant sites (NF-κB p65, SP1); TFBSTools also surfaces NFAT and TBP. G4: gquad flags 15 putative quadruplex sites across the subset U3 (3 in the HXB2 control), pqsfinder a stricter 5 (1) — consistent evidence of G-quadruplex potential in the U3 promoter.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55080" y="1828800"/>
          <a:ext cx="52578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55080" y="5029200"/>
          <a:ext cx="525780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276"/>
                <a:gridCol w="1524762"/>
                <a:gridCol w="1524762"/>
              </a:tblGrid>
              <a:tr h="29260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A1A17"/>
                          </a:solidFill>
                          <a:latin typeface="Segoe UI"/>
                        </a:rPr>
                        <a:t>G-quadruplex</a:t>
                      </a:r>
                    </a:p>
                  </a:txBody>
                  <a:tcPr marT="25400" marB="25400" marL="76200" marR="76200">
                    <a:solidFill>
                      <a:srgbClr val="F4E6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7"/>
                          </a:solidFill>
                          <a:latin typeface="Segoe UI"/>
                        </a:rPr>
                        <a:t>control</a:t>
                      </a:r>
                    </a:p>
                  </a:txBody>
                  <a:tcPr marT="25400" marB="25400" marL="76200" marR="76200">
                    <a:solidFill>
                      <a:srgbClr val="F4E6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7"/>
                          </a:solidFill>
                          <a:latin typeface="Segoe UI"/>
                        </a:rPr>
                        <a:t>subset</a:t>
                      </a:r>
                    </a:p>
                  </a:txBody>
                  <a:tcPr marT="25400" marB="25400" marL="76200" marR="76200">
                    <a:solidFill>
                      <a:srgbClr val="F4E6D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gquad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pqsfinder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6  ·  U3 EXTRACTION &amp; MOTIF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Challenges &amp; resolutions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600200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600200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A shared logging helper swallowed every tool's stderr into the timing file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Real errors were hidden; metrics read as '0 / n/a'.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Fixed lib_compare.sh to time via date without redirecting the tool's stderr.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3063239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" y="3063239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A REPO_ROOT off-by-one broke 7 run-scripts; lowercase U3 gave 0 hits</a:t>
            </a:r>
          </a:p>
          <a:p>
            <a:pPr>
              <a:spcBef>
                <a:spcPts val="300"/>
              </a:spcBef>
            </a:pPr>
            <a:r>
              <a:rPr sz="1250" b="1" i="0">
                <a:solidFill>
                  <a:srgbClr val="0CA30C"/>
                </a:solidFill>
                <a:latin typeface="Segoe UI"/>
              </a:rPr>
              <a:t>Fixed path resolution across all scripts, and uppercased the extracted U3 so FIMO/MOODS/TFBSTools no longer treat MAFFT's lowercase as masked.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4526279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" y="4526279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JASPAR PWM sourcing &amp; per-tool format quirks</a:t>
            </a:r>
          </a:p>
          <a:p>
            <a:pPr>
              <a:spcBef>
                <a:spcPts val="300"/>
              </a:spcBef>
            </a:pPr>
            <a:r>
              <a:rPr sz="1250" b="1" i="0">
                <a:solidFill>
                  <a:srgbClr val="0CA30C"/>
                </a:solidFill>
                <a:latin typeface="Segoe UI"/>
              </a:rPr>
              <a:t>Fetched JASPAR 2024 via its REST API (version-locked); split matrices per-file for MOODS; fixed a seqkit grep -n pitfall that matched nothing.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