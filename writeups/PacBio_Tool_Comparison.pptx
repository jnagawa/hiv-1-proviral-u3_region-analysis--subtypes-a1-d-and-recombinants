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50" b="1">
                <a:solidFill>
                  <a:srgbClr val="1A1A17"/>
                </a:solidFill>
              </a:rPr>
              <a:t>Mean recovered core length per sample (bp)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proviral core (bp)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124_4</c:v>
                </c:pt>
                <c:pt idx="1">
                  <c:v>128_5</c:v>
                </c:pt>
                <c:pt idx="2">
                  <c:v>203_3</c:v>
                </c:pt>
                <c:pt idx="3">
                  <c:v>211_0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3370</c:v>
                </c:pt>
                <c:pt idx="1">
                  <c:v>5964</c:v>
                </c:pt>
                <c:pt idx="2">
                  <c:v>1789</c:v>
                </c:pt>
                <c:pt idx="3">
                  <c:v>4378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50" b="1">
                <a:solidFill>
                  <a:srgbClr val="1A1A17"/>
                </a:solidFill>
              </a:rPr>
              <a:t>Consensus length (bp) — valid window 8,000–10,000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minimap2 consensus (bp)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124_4</c:v>
                </c:pt>
                <c:pt idx="1">
                  <c:v>128_5</c:v>
                </c:pt>
                <c:pt idx="2">
                  <c:v>203_3</c:v>
                </c:pt>
                <c:pt idx="3">
                  <c:v>211_0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9719</c:v>
                </c:pt>
                <c:pt idx="1">
                  <c:v>9719</c:v>
                </c:pt>
                <c:pt idx="2">
                  <c:v>9719</c:v>
                </c:pt>
                <c:pt idx="3">
                  <c:v>9719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50" b="1">
                <a:solidFill>
                  <a:srgbClr val="1A1A17"/>
                </a:solidFill>
              </a:rPr>
              <a:t>Runtime per tool (seconds)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Runtime (s)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jpHMM (per sample)</c:v>
                </c:pt>
                <c:pt idx="1">
                  <c:v>IQ-TREE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636</c:v>
                </c:pt>
                <c:pt idx="1">
                  <c:v>2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50" b="1">
                <a:solidFill>
                  <a:srgbClr val="1A1A17"/>
                </a:solidFill>
              </a:rPr>
              <a:t>TFBS hits per factor (subset)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FIMO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p65</c:v>
                </c:pt>
                <c:pt idx="1">
                  <c:v>p50</c:v>
                </c:pt>
                <c:pt idx="2">
                  <c:v>SP1</c:v>
                </c:pt>
                <c:pt idx="3">
                  <c:v>NFAT</c:v>
                </c:pt>
                <c:pt idx="4">
                  <c:v>AP-1</c:v>
                </c:pt>
                <c:pt idx="5">
                  <c:v>TBP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2</c:v>
                </c:pt>
                <c:pt idx="2">
                  <c:v>5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TFBSTools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p65</c:v>
                </c:pt>
                <c:pt idx="1">
                  <c:v>p50</c:v>
                </c:pt>
                <c:pt idx="2">
                  <c:v>SP1</c:v>
                </c:pt>
                <c:pt idx="3">
                  <c:v>NFAT</c:v>
                </c:pt>
                <c:pt idx="4">
                  <c:v>AP-1</c:v>
                </c:pt>
                <c:pt idx="5">
                  <c:v>TBP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19</c:v>
                </c:pt>
                <c:pt idx="1">
                  <c:v>2</c:v>
                </c:pt>
                <c:pt idx="2">
                  <c:v>15</c:v>
                </c:pt>
                <c:pt idx="3">
                  <c:v>14</c:v>
                </c:pt>
                <c:pt idx="4">
                  <c:v>6</c:v>
                </c:pt>
                <c:pt idx="5">
                  <c:v>31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5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MSc BIOINFORMATICS INTERNSHIP  ·  RAKAI / MAKERERE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82880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1A1A17"/>
                </a:solidFill>
                <a:latin typeface="Segoe UI"/>
              </a:rPr>
              <a:t>PacBio (HIV-SMRTcap) Tool-Comparison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 i="0">
                <a:solidFill>
                  <a:srgbClr val="565550"/>
                </a:solidFill>
                <a:latin typeface="Segoe UI"/>
              </a:rPr>
              <a:t>Long-read (PacBio HiFi) arm of the HIV-1 proviral U3 pipeline, run on 4 host-N-masked Rakai SMRTcap samples (124_4, 128_5, 203_3, 211_0). The provirus is recovered from host-masked reads, then assembled, aligned, subtyped, intactness-screened and scanned for TFBS + G-quadruplex motifs.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40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8F8D85"/>
                </a:solidFill>
                <a:latin typeface="Segoe UI"/>
              </a:rPr>
              <a:t>Jovita Nagawa  · 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F8D85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STEP 1  ·  PROVIRAL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Tools, configuration &amp;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F8D85"/>
                </a:solidFill>
                <a:latin typeface="Segoe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572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86B18"/>
                </a:solidFill>
                <a:latin typeface="Segoe UI"/>
              </a:rPr>
              <a:t>  extract_provirus_strip_hostN (bash/awk/seqkit)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011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A1A17"/>
                </a:solidFill>
                <a:latin typeface="Segoe UI"/>
              </a:rPr>
              <a:t>What was done &amp;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86000"/>
            <a:ext cx="5623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SMRTcap reads carry host flanks masked with N; the integrated provirus is the ACGT core.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1A1A17"/>
                </a:solidFill>
                <a:latin typeface="Segoe UI"/>
              </a:rPr>
              <a:t>Strip the leading &amp; trailing N-runs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 to recover the proviral core; internal bases preserved (a stray internal N never truncates).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1A1A17"/>
                </a:solidFill>
                <a:latin typeface="Segoe UI"/>
              </a:rPr>
              <a:t>Path A (input already masked)</a:t>
            </a:r>
            <a:r>
              <a:rPr sz="1300" b="0" i="1">
                <a:solidFill>
                  <a:srgbClr val="8F8D85"/>
                </a:solidFill>
                <a:latin typeface="Segoe UI"/>
              </a:rPr>
              <a:t> — per-read start/end coordinates logged for provenance. Custom bash/awk/seqkit, no Python.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5440680"/>
            <a:ext cx="5486400" cy="960120"/>
          </a:xfrm>
          <a:prstGeom prst="roundRect">
            <a:avLst/>
          </a:prstGeom>
          <a:solidFill>
            <a:srgbClr val="F4E6DF"/>
          </a:solidFill>
          <a:ln w="9525">
            <a:solidFill>
              <a:srgbClr val="E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150" b="1" i="0">
                <a:solidFill>
                  <a:srgbClr val="C8603A"/>
                </a:solidFill>
                <a:latin typeface="Segoe UI"/>
              </a:rPr>
              <a:t>Finding  </a:t>
            </a:r>
          </a:p>
          <a:p>
            <a:r>
              <a:rPr sz="1250" b="0" i="0">
                <a:solidFill>
                  <a:srgbClr val="1A1A17"/>
                </a:solidFill>
                <a:latin typeface="Segoe UI"/>
              </a:rPr>
              <a:t>Provirus recovered from every read (41/41, 75/75, 19/19, 30/30), 0% residual N. Cores are variable and partial (means 1.8–6.0 kb, not full 9 kb) — SMRTcap junction reads carry a large host fraction, so downstream assembly must tile them per sample.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55080" y="1828800"/>
          <a:ext cx="525780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STEP 1  ·  PROVIRAL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Challenges &amp; resolutions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F8D85"/>
                </a:solidFill>
                <a:latin typeface="Segoe U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600200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600200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Uploaded files were nested one folder deeper than expected, so every sample was skipped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565550"/>
                </a:solidFill>
                <a:latin typeface="Segoe UI"/>
              </a:rPr>
              <a:t>scp copied the whole raw_smrtcap/ wrapper; the reader looked one level too shallow and found nothing → extraction produced no cores and the chain failed downstream. </a:t>
            </a:r>
            <a:r>
              <a:rPr sz="1250" b="1" i="0">
                <a:solidFill>
                  <a:srgbClr val="0CA30C"/>
                </a:solidFill>
                <a:latin typeface="Segoe UI"/>
              </a:rPr>
              <a:t>Made the reader search recursively — nesting depth no longer matters; re-ran and all 4 samples resolved.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3063239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" y="3063239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Cores are partial provirus (junction reads carry lots of host)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565550"/>
                </a:solidFill>
                <a:latin typeface="Segoe UI"/>
              </a:rPr>
              <a:t>Sample 203_3 cores average only ~1.8 kb. </a:t>
            </a:r>
            <a:r>
              <a:rPr sz="1250" b="1" i="0">
                <a:solidFill>
                  <a:srgbClr val="0CA30C"/>
                </a:solidFill>
                <a:latin typeface="Segoe UI"/>
              </a:rPr>
              <a:t>Flagged for interpretation: reference-guided assembly fills uncovered regions with HXB2, so per-sample U3 coverage is reported, not assumed full.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4526279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" y="4526279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Filename said ‘unmasked’ though host was masked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565550"/>
                </a:solidFill>
                <a:latin typeface="Segoe UI"/>
              </a:rPr>
              <a:t>‘hiv.unmasked’ = the HIV is the unmasked (ACGT) part, host is N-masked. </a:t>
            </a:r>
            <a:r>
              <a:rPr sz="1250" b="1" i="0">
                <a:solidFill>
                  <a:srgbClr val="0CA30C"/>
                </a:solidFill>
                <a:latin typeface="Segoe UI"/>
              </a:rPr>
              <a:t>Verified by content (N-flanks + ACGT core) rather than filename before running.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STEP 2  ·  GENOME ASSEMBLY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Tools, configuration &amp;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F8D85"/>
                </a:solidFill>
                <a:latin typeface="Segoe U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572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86B18"/>
                </a:solidFill>
                <a:latin typeface="Segoe UI"/>
              </a:rPr>
              <a:t>  minimap2 → HXB2 consensus  </a:t>
            </a:r>
            <a:r>
              <a:rPr sz="1200" b="0" i="0">
                <a:solidFill>
                  <a:srgbClr val="8F8D85"/>
                </a:solidFill>
                <a:latin typeface="Segoe UI"/>
              </a:rPr>
              <a:t>   </a:t>
            </a:r>
            <a:r>
              <a:rPr sz="1200" b="1" i="0">
                <a:solidFill>
                  <a:srgbClr val="1A1A17"/>
                </a:solidFill>
                <a:latin typeface="Segoe UI"/>
              </a:rPr>
              <a:t>  hifiasm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011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A1A17"/>
                </a:solidFill>
                <a:latin typeface="Segoe UI"/>
              </a:rPr>
              <a:t>What was done &amp;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86000"/>
            <a:ext cx="5623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1A1A17"/>
                </a:solidFill>
                <a:latin typeface="Segoe UI"/>
              </a:rPr>
              <a:t>Reference-guided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 (minimap2 map-hifi → HXB2 + bcftools consensus) vs </a:t>
            </a:r>
            <a:r>
              <a:rPr sz="1350" b="1" i="0">
                <a:solidFill>
                  <a:srgbClr val="1A1A17"/>
                </a:solidFill>
                <a:latin typeface="Segoe UI"/>
              </a:rPr>
              <a:t>de novo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 (hifiasm, the HiFi standard).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minimap2 preset map-hifi; consensus called with bcftools (haploid).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Validity = 8–10 kb full-genome window.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5440680"/>
            <a:ext cx="5486400" cy="960120"/>
          </a:xfrm>
          <a:prstGeom prst="roundRect">
            <a:avLst/>
          </a:prstGeom>
          <a:solidFill>
            <a:srgbClr val="F4E6DF"/>
          </a:solidFill>
          <a:ln w="9525">
            <a:solidFill>
              <a:srgbClr val="E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150" b="1" i="0">
                <a:solidFill>
                  <a:srgbClr val="C8603A"/>
                </a:solidFill>
                <a:latin typeface="Segoe UI"/>
              </a:rPr>
              <a:t>Finding  </a:t>
            </a:r>
          </a:p>
          <a:p>
            <a:r>
              <a:rPr sz="1250" b="0" i="0">
                <a:solidFill>
                  <a:srgbClr val="1A1A17"/>
                </a:solidFill>
                <a:latin typeface="Segoe UI"/>
              </a:rPr>
              <a:t>minimap2→HXB2 consensus reconstructed a full-length sequence (9,719 bp, 0% N) for all 4 samples. Because the input cores are partial, uncovered positions are filled from HXB2 — so a 'valid' length here is partly reference-derived; per-sample read coverage of U3 is the honest metric. hifiasm comparison pending its install.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55080" y="1828800"/>
          <a:ext cx="525780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STEP 2  ·  GENOME ASSEMBLY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Challenges &amp; resolutions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F8D85"/>
                </a:solidFill>
                <a:latin typeface="Segoe U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600200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600200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hifiasm (de novo comparator) not yet installed on the node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565550"/>
                </a:solidFill>
                <a:latin typeface="Segoe UI"/>
              </a:rPr>
              <a:t>The assembly step auto-skips hifiasm rather than failing. </a:t>
            </a:r>
            <a:r>
              <a:rPr sz="1250" b="1" i="0">
                <a:solidFill>
                  <a:srgbClr val="0CA30C"/>
                </a:solidFill>
                <a:latin typeface="Segoe UI"/>
              </a:rPr>
              <a:t>hifiasm is pinned in the env file and installs in the pending env-setup; its comparison row is added on re-run — no rework of the minimap2 side.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3063239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" y="3063239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Reference-guided consensus masks missing coverage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565550"/>
                </a:solidFill>
                <a:latin typeface="Segoe UI"/>
              </a:rPr>
              <a:t>bcftools consensus returns HXB2-length output, filling gaps with reference bases where partial reads don't reach. </a:t>
            </a:r>
            <a:r>
              <a:rPr sz="1250" b="1" i="0">
                <a:solidFill>
                  <a:srgbClr val="0CA30C"/>
                </a:solidFill>
                <a:latin typeface="Segoe UI"/>
              </a:rPr>
              <a:t>Reported as a caveat; U3-region read depth is checked per sample so reference-fill isn't mistaken for real signal.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STEP 3  ·  MULTIPLE SEQUENCE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Tools, configuration &amp;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F8D85"/>
                </a:solidFill>
                <a:latin typeface="Segoe U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572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86B18"/>
                </a:solidFill>
                <a:latin typeface="Segoe UI"/>
              </a:rPr>
              <a:t>  MAFFT (L-INS-i)  </a:t>
            </a:r>
            <a:r>
              <a:rPr sz="1200" b="0" i="0">
                <a:solidFill>
                  <a:srgbClr val="8F8D85"/>
                </a:solidFill>
                <a:latin typeface="Segoe UI"/>
              </a:rPr>
              <a:t>   </a:t>
            </a:r>
            <a:r>
              <a:rPr sz="1200" b="1" i="0">
                <a:solidFill>
                  <a:srgbClr val="1A1A17"/>
                </a:solidFill>
                <a:latin typeface="Segoe UI"/>
              </a:rPr>
              <a:t>  MUSCLE  </a:t>
            </a:r>
            <a:r>
              <a:rPr sz="1200" b="0" i="0">
                <a:solidFill>
                  <a:srgbClr val="8F8D85"/>
                </a:solidFill>
                <a:latin typeface="Segoe UI"/>
              </a:rPr>
              <a:t>   </a:t>
            </a:r>
            <a:r>
              <a:rPr sz="1200" b="1" i="0">
                <a:solidFill>
                  <a:srgbClr val="1A1A17"/>
                </a:solidFill>
                <a:latin typeface="Segoe UI"/>
              </a:rPr>
              <a:t>  Clustal Omega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011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A1A17"/>
                </a:solidFill>
                <a:latin typeface="Segoe UI"/>
              </a:rPr>
              <a:t>What was done &amp;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86000"/>
            <a:ext cx="5623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Aligned HXB2 + the 4 sample consensus with each tool (reuses the Illumina arm's run scripts — alignment is platform-agnostic).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1A1A17"/>
                </a:solidFill>
                <a:latin typeface="Segoe UI"/>
              </a:rPr>
              <a:t>MAFFT as L-INS-i</a:t>
            </a:r>
            <a:r>
              <a:rPr sz="1300" b="0" i="1">
                <a:solidFill>
                  <a:srgbClr val="8F8D85"/>
                </a:solidFill>
                <a:latin typeface="Segoe UI"/>
              </a:rPr>
              <a:t> (--localpair --maxiterate 1000).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All three retained 5/5 sequences; MAFFT fastest (78 s vs 119 s MUSCLE, 201 s Clustal Ω).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5440680"/>
            <a:ext cx="5486400" cy="960120"/>
          </a:xfrm>
          <a:prstGeom prst="roundRect">
            <a:avLst/>
          </a:prstGeom>
          <a:solidFill>
            <a:srgbClr val="F4E6DF"/>
          </a:solidFill>
          <a:ln w="9525">
            <a:solidFill>
              <a:srgbClr val="E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150" b="1" i="0">
                <a:solidFill>
                  <a:srgbClr val="C8603A"/>
                </a:solidFill>
                <a:latin typeface="Segoe UI"/>
              </a:rPr>
              <a:t>Finding  </a:t>
            </a:r>
          </a:p>
          <a:p>
            <a:r>
              <a:rPr sz="1250" b="0" i="0">
                <a:solidFill>
                  <a:srgbClr val="1A1A17"/>
                </a:solidFill>
                <a:latin typeface="Segoe UI"/>
              </a:rPr>
              <a:t>MAFFT L-INS-i is again the pick — most accurate for divergent HIV and fastest here. The coloured U3 alignment (right) is the coordinate frame the motif scan uses; conservation is high across the reference-anchored consensus set.</a:t>
            </a:r>
          </a:p>
        </p:txBody>
      </p:sp>
      <p:pic>
        <p:nvPicPr>
          <p:cNvPr id="10" name="Picture 9" descr="msa_u3_pacbio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28800"/>
            <a:ext cx="5257800" cy="9740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STEP 3  ·  MULTIPLE SEQUENCE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Challenges &amp; resolutions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F8D85"/>
                </a:solidFill>
                <a:latin typeface="Segoe U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600200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600200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Inherited the Illumina-arm alignment fixes (no new breakage)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565550"/>
                </a:solidFill>
                <a:latin typeface="Segoe UI"/>
              </a:rPr>
              <a:t>Reused run_mafft/muscle/clustalo unchanged. </a:t>
            </a:r>
            <a:r>
              <a:rPr sz="1250" b="1" i="0">
                <a:solidFill>
                  <a:srgbClr val="0CA30C"/>
                </a:solidFill>
                <a:latin typeface="Segoe UI"/>
              </a:rPr>
              <a:t>MUSCLE stays pinned to 3.8 (v5 SIGILL on this CPU); U3 extraction output is uppercased so motif scanners don't read MAFFT's lowercase as masked.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3063239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" y="3063239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Consensus set is near-identical, so the alignment is 'easy'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565550"/>
                </a:solidFill>
                <a:latin typeface="Segoe UI"/>
              </a:rPr>
              <a:t>Reference-fill makes the 4 consensus highly similar to HXB2. </a:t>
            </a:r>
            <a:r>
              <a:rPr sz="1250" b="1" i="0">
                <a:solidFill>
                  <a:srgbClr val="0CA30C"/>
                </a:solidFill>
                <a:latin typeface="Segoe UI"/>
              </a:rPr>
              <a:t>Noted: the alignment is trustworthy for coordinates, but inter-sample divergence is understated until fuller-coverage reads are used.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STEP 4  ·  BIOLOGICAL FILTERING &amp; INTACTNESS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Tools, configuration &amp;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F8D85"/>
                </a:solidFill>
                <a:latin typeface="Segoe U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572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7"/>
                </a:solidFill>
                <a:latin typeface="Segoe UI"/>
              </a:rPr>
              <a:t>  Poplars (Hypermut 3)  </a:t>
            </a:r>
            <a:r>
              <a:rPr sz="1200" b="0" i="0">
                <a:solidFill>
                  <a:srgbClr val="8F8D85"/>
                </a:solidFill>
                <a:latin typeface="Segoe UI"/>
              </a:rPr>
              <a:t>   </a:t>
            </a:r>
            <a:r>
              <a:rPr sz="1200" b="1" i="0">
                <a:solidFill>
                  <a:srgbClr val="1A1A17"/>
                </a:solidFill>
                <a:latin typeface="Segoe UI"/>
              </a:rPr>
              <a:t>  HIVSeqinR  </a:t>
            </a:r>
            <a:r>
              <a:rPr sz="1200" b="0" i="0">
                <a:solidFill>
                  <a:srgbClr val="8F8D85"/>
                </a:solidFill>
                <a:latin typeface="Segoe UI"/>
              </a:rPr>
              <a:t>   </a:t>
            </a:r>
            <a:r>
              <a:rPr sz="1200" b="1" i="0">
                <a:solidFill>
                  <a:srgbClr val="1A1A17"/>
                </a:solidFill>
                <a:latin typeface="Segoe UI"/>
              </a:rPr>
              <a:t>  HIVIntact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011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A1A17"/>
                </a:solidFill>
                <a:latin typeface="Segoe UI"/>
              </a:rPr>
              <a:t>What was done &amp;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86000"/>
            <a:ext cx="5623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1A1A17"/>
                </a:solidFill>
                <a:latin typeface="Segoe UI"/>
              </a:rPr>
              <a:t>Two-stage filter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: Poplars screens APOBEC G→A hypermutation, then structural intactness via HIVSeqinR / HIVIntact.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Input HXB2-first (Poplars' implicit reference); HIVIntact --subtype A1.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5440680"/>
            <a:ext cx="5486400" cy="960120"/>
          </a:xfrm>
          <a:prstGeom prst="roundRect">
            <a:avLst/>
          </a:prstGeom>
          <a:solidFill>
            <a:srgbClr val="F4E6DF"/>
          </a:solidFill>
          <a:ln w="9525">
            <a:solidFill>
              <a:srgbClr val="E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150" b="1" i="0">
                <a:solidFill>
                  <a:srgbClr val="C8603A"/>
                </a:solidFill>
                <a:latin typeface="Segoe UI"/>
              </a:rPr>
              <a:t>Finding  </a:t>
            </a:r>
          </a:p>
          <a:p>
            <a:r>
              <a:rPr sz="1250" b="0" i="0">
                <a:solidFill>
                  <a:srgbClr val="1A1A17"/>
                </a:solidFill>
                <a:latin typeface="Segoe UI"/>
              </a:rPr>
              <a:t>Poplars completed the hypermutation screen and HIVIntact ran (0 intact / 5 non-intact) — but HIVIntact is subtype-B-optimised, so its A1/D calls are a cautious cross-check. HIVSeqinR (Rakai A1/D-validated) is the primary caller once its one-time primer config is supplied.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55080" y="1920240"/>
          <a:ext cx="525780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276"/>
                <a:gridCol w="3049524"/>
              </a:tblGrid>
              <a:tr h="29260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A1A17"/>
                          </a:solidFill>
                          <a:latin typeface="Segoe UI"/>
                        </a:rPr>
                        <a:t>Tool</a:t>
                      </a:r>
                    </a:p>
                  </a:txBody>
                  <a:tcPr marT="25400" marB="25400" marL="76200" marR="76200">
                    <a:solidFill>
                      <a:srgbClr val="F4E6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7"/>
                          </a:solidFill>
                          <a:latin typeface="Segoe UI"/>
                        </a:rPr>
                        <a:t>Result</a:t>
                      </a:r>
                    </a:p>
                  </a:txBody>
                  <a:tcPr marT="25400" marB="25400" marL="76200" marR="76200">
                    <a:solidFill>
                      <a:srgbClr val="F4E6D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Poplars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hypermutation screen ran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HIVIntact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0 intact / 5 non-intact*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HIVSeqinR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needs primer config (pending)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STEP 4  ·  BIOLOGICAL FILTERING &amp; INTACTNESS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Challenges &amp; resolutions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F8D85"/>
                </a:solidFill>
                <a:latin typeface="Segoe U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600200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600200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HIVSeqinR needs a manual protocol-specific primer configuration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565550"/>
                </a:solidFill>
                <a:latin typeface="Segoe UI"/>
              </a:rPr>
              <a:t>It refuses to run until 2nd-round PCR primers are supplied and .CONFIGURED is set. </a:t>
            </a:r>
            <a:r>
              <a:rPr sz="1250" b="1" i="0">
                <a:solidFill>
                  <a:srgbClr val="0CA30C"/>
                </a:solidFill>
                <a:latin typeface="Segoe UI"/>
              </a:rPr>
              <a:t>Documented the exact step; HIVIntact + Poplars provide interim intactness/hypermutation signal in the meantime.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3063239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" y="3063239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HIVIntact heuristics are subtype-B optimised — bias risk on A1/D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565550"/>
                </a:solidFill>
                <a:latin typeface="Segoe UI"/>
              </a:rPr>
              <a:t>Its calls can be skewed for this cohort. </a:t>
            </a:r>
            <a:r>
              <a:rPr sz="1250" b="1" i="0">
                <a:solidFill>
                  <a:srgbClr val="0CA30C"/>
                </a:solidFill>
                <a:latin typeface="Segoe UI"/>
              </a:rPr>
              <a:t>Flagged interpret-with-caution; HIVSeqinR is the A1/D-validated primary once configured.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STEP 5  ·  SUBTYPE &amp; RECOMBINATION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Tools, configuration &amp;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F8D85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572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86B18"/>
                </a:solidFill>
                <a:latin typeface="Segoe UI"/>
              </a:rPr>
              <a:t>  jpHMM  </a:t>
            </a:r>
            <a:r>
              <a:rPr sz="1200" b="0" i="0">
                <a:solidFill>
                  <a:srgbClr val="8F8D85"/>
                </a:solidFill>
                <a:latin typeface="Segoe UI"/>
              </a:rPr>
              <a:t>   </a:t>
            </a:r>
            <a:r>
              <a:rPr sz="1200" b="1" i="0">
                <a:solidFill>
                  <a:srgbClr val="1A1A17"/>
                </a:solidFill>
                <a:latin typeface="Segoe UI"/>
              </a:rPr>
              <a:t>  IQ-TREE 2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011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A1A17"/>
                </a:solidFill>
                <a:latin typeface="Segoe UI"/>
              </a:rPr>
              <a:t>What was done &amp;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86000"/>
            <a:ext cx="5623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1A1A17"/>
                </a:solidFill>
                <a:latin typeface="Segoe UI"/>
              </a:rPr>
              <a:t>jpHMM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 calls per-sample recombination breakpoints; </a:t>
            </a:r>
            <a:r>
              <a:rPr sz="1350" b="1" i="0">
                <a:solidFill>
                  <a:srgbClr val="1A1A17"/>
                </a:solidFill>
                <a:latin typeface="Segoe UI"/>
              </a:rPr>
              <a:t>IQ-TREE 2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 confirms clustering (ML tree, -m MFP).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1A1A17"/>
                </a:solidFill>
                <a:latin typeface="Segoe UI"/>
              </a:rPr>
              <a:t>This is where each Rakai sample's A1 / D / recombinant subtype is actually determined</a:t>
            </a:r>
            <a:r>
              <a:rPr sz="1300" b="0" i="1">
                <a:solidFill>
                  <a:srgbClr val="8F8D85"/>
                </a:solidFill>
                <a:latin typeface="Segoe UI"/>
              </a:rPr>
              <a:t> (it is not in any metadata).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5440680"/>
            <a:ext cx="5486400" cy="960120"/>
          </a:xfrm>
          <a:prstGeom prst="roundRect">
            <a:avLst/>
          </a:prstGeom>
          <a:solidFill>
            <a:srgbClr val="F4E6DF"/>
          </a:solidFill>
          <a:ln w="9525">
            <a:solidFill>
              <a:srgbClr val="E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150" b="1" i="0">
                <a:solidFill>
                  <a:srgbClr val="C8603A"/>
                </a:solidFill>
                <a:latin typeface="Segoe UI"/>
              </a:rPr>
              <a:t>Finding  </a:t>
            </a:r>
          </a:p>
          <a:p>
            <a:r>
              <a:rPr sz="1250" b="0" i="0">
                <a:solidFill>
                  <a:srgbClr val="1A1A17"/>
                </a:solidFill>
                <a:latin typeface="Segoe UI"/>
              </a:rPr>
              <a:t>jpHMM produced per-sample recombination/breakpoint maps for all 4 samples and IQ-TREE confirmed the clustering. jpHMM dominates runtime (~10 min/sample, run 4×) vs the ML tree's ~2 s — the step to parallelise at cohort scale.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55080" y="1828800"/>
          <a:ext cx="525780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STEP 5  ·  SUBTYPE &amp; RECOMBINATION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Challenges &amp; resolutions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F8D85"/>
                </a:solidFill>
                <a:latin typeface="Segoe U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600200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600200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Reused the Illumina-arm subtyping fixes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565550"/>
                </a:solidFill>
                <a:latin typeface="Segoe UI"/>
              </a:rPr>
              <a:t>jpHMM's LD_LIBRARY_PATH/GLIBCXX conflict and the iqtree2-vs-iqtree3 binary pin were already resolved and carried over. </a:t>
            </a:r>
            <a:r>
              <a:rPr sz="1250" b="1" i="0">
                <a:solidFill>
                  <a:srgbClr val="0CA30C"/>
                </a:solidFill>
                <a:latin typeface="Segoe UI"/>
              </a:rPr>
              <a:t>Ran cleanly on the PacBio consensus with no new issues.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3063239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" y="3063239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Ultrafast bootstrap still off for the small subset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565550"/>
                </a:solidFill>
                <a:latin typeface="Segoe UI"/>
              </a:rPr>
              <a:t>IQ-TREE refuses UFBoot with too few distinct sequences. </a:t>
            </a:r>
            <a:r>
              <a:rPr sz="1250" b="1" i="0">
                <a:solidFill>
                  <a:srgbClr val="0CA30C"/>
                </a:solidFill>
                <a:latin typeface="Segoe UI"/>
              </a:rPr>
              <a:t>-B 1000 stays disabled for the 4-sample subset; re-enabled for the full cohort tree.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STEP 6  ·  U3 EXTRACTION &amp; MOTIF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Tools, configuration &amp;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F8D85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572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A1A17"/>
                </a:solidFill>
                <a:latin typeface="Segoe UI"/>
              </a:rPr>
              <a:t>  SeqKit (U3)  </a:t>
            </a:r>
            <a:r>
              <a:rPr sz="1200" b="0" i="0">
                <a:solidFill>
                  <a:srgbClr val="8F8D85"/>
                </a:solidFill>
                <a:latin typeface="Segoe UI"/>
              </a:rPr>
              <a:t>   </a:t>
            </a:r>
            <a:r>
              <a:rPr sz="1200" b="1" i="0">
                <a:solidFill>
                  <a:srgbClr val="1A1A17"/>
                </a:solidFill>
                <a:latin typeface="Segoe UI"/>
              </a:rPr>
              <a:t>  FIMO  </a:t>
            </a:r>
            <a:r>
              <a:rPr sz="1200" b="0" i="0">
                <a:solidFill>
                  <a:srgbClr val="8F8D85"/>
                </a:solidFill>
                <a:latin typeface="Segoe UI"/>
              </a:rPr>
              <a:t>   </a:t>
            </a:r>
            <a:r>
              <a:rPr sz="1200" b="1" i="0">
                <a:solidFill>
                  <a:srgbClr val="1A1A17"/>
                </a:solidFill>
                <a:latin typeface="Segoe UI"/>
              </a:rPr>
              <a:t>  MOODS  </a:t>
            </a:r>
            <a:r>
              <a:rPr sz="1200" b="0" i="0">
                <a:solidFill>
                  <a:srgbClr val="8F8D85"/>
                </a:solidFill>
                <a:latin typeface="Segoe UI"/>
              </a:rPr>
              <a:t>   </a:t>
            </a:r>
            <a:r>
              <a:rPr sz="1200" b="1" i="0">
                <a:solidFill>
                  <a:srgbClr val="1A1A17"/>
                </a:solidFill>
                <a:latin typeface="Segoe UI"/>
              </a:rPr>
              <a:t>  TFBSTools  </a:t>
            </a:r>
            <a:r>
              <a:rPr sz="1200" b="0" i="0">
                <a:solidFill>
                  <a:srgbClr val="8F8D85"/>
                </a:solidFill>
                <a:latin typeface="Segoe UI"/>
              </a:rPr>
              <a:t>   </a:t>
            </a:r>
            <a:r>
              <a:rPr sz="1200" b="1" i="0">
                <a:solidFill>
                  <a:srgbClr val="1A1A17"/>
                </a:solidFill>
                <a:latin typeface="Segoe UI"/>
              </a:rPr>
              <a:t>  gquad  </a:t>
            </a:r>
            <a:r>
              <a:rPr sz="1200" b="0" i="0">
                <a:solidFill>
                  <a:srgbClr val="8F8D85"/>
                </a:solidFill>
                <a:latin typeface="Segoe UI"/>
              </a:rPr>
              <a:t>   </a:t>
            </a:r>
            <a:r>
              <a:rPr sz="1200" b="1" i="0">
                <a:solidFill>
                  <a:srgbClr val="1A1A17"/>
                </a:solidFill>
                <a:latin typeface="Segoe UI"/>
              </a:rPr>
              <a:t>  pqsfinder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011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A1A17"/>
                </a:solidFill>
                <a:latin typeface="Segoe UI"/>
              </a:rPr>
              <a:t>What was done &amp;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86000"/>
            <a:ext cx="5623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1A1A17"/>
                </a:solidFill>
                <a:latin typeface="Segoe UI"/>
              </a:rPr>
              <a:t>Extracted U3 (453 bp, 5 seqs)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 from the MAFFT alignment, HXB2-anchored.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1A1A17"/>
                </a:solidFill>
                <a:latin typeface="Segoe UI"/>
              </a:rPr>
              <a:t>TFBS: FIMO / MOODS / TFBSTools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 scan JASPAR 2024 PWMs (6 TFs); FIMO threshold 1e-4.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C8603A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1A1A17"/>
                </a:solidFill>
                <a:latin typeface="Segoe UI"/>
              </a:rPr>
              <a:t>G-quadruplex methodology</a:t>
            </a:r>
            <a:r>
              <a:rPr sz="1350" b="0" i="0">
                <a:solidFill>
                  <a:srgbClr val="565550"/>
                </a:solidFill>
                <a:latin typeface="Segoe UI"/>
              </a:rPr>
              <a:t> — gquad: regex on G-tract runs + loop lengths; pqsfinder: exhaustive, imperfection-tolerant search. Both scan raw U3, no PWM.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5440680"/>
            <a:ext cx="5486400" cy="960120"/>
          </a:xfrm>
          <a:prstGeom prst="roundRect">
            <a:avLst/>
          </a:prstGeom>
          <a:solidFill>
            <a:srgbClr val="F4E6DF"/>
          </a:solidFill>
          <a:ln w="9525">
            <a:solidFill>
              <a:srgbClr val="E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150" b="1" i="0">
                <a:solidFill>
                  <a:srgbClr val="C8603A"/>
                </a:solidFill>
                <a:latin typeface="Segoe UI"/>
              </a:rPr>
              <a:t>Finding  </a:t>
            </a:r>
          </a:p>
          <a:p>
            <a:r>
              <a:rPr sz="1250" b="0" i="0">
                <a:solidFill>
                  <a:srgbClr val="1A1A17"/>
                </a:solidFill>
                <a:latin typeface="Segoe UI"/>
              </a:rPr>
              <a:t>TFBSTools recovered all 6 target TFs (TBP 31, NF-κB p65 19, SP1 15, NFAT 14, AP-1 6, p50 2); FIMO's strict 1e-4 kept p65 9, SP1 5, p50 2. G4: gquad flagged 15 putative quadruplex sites across the subset U3 (3 in the HXB2 control), pqsfinder a stricter 5 (1) — consistent G-quadruplex potential in the U3 promoter.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55080" y="1828800"/>
          <a:ext cx="525780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55080" y="5029200"/>
          <a:ext cx="525780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276"/>
                <a:gridCol w="1524762"/>
                <a:gridCol w="1524762"/>
              </a:tblGrid>
              <a:tr h="29260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A1A17"/>
                          </a:solidFill>
                          <a:latin typeface="Segoe UI"/>
                        </a:rPr>
                        <a:t>G-quadruplex</a:t>
                      </a:r>
                    </a:p>
                  </a:txBody>
                  <a:tcPr marT="25400" marB="25400" marL="76200" marR="76200">
                    <a:solidFill>
                      <a:srgbClr val="F4E6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7"/>
                          </a:solidFill>
                          <a:latin typeface="Segoe UI"/>
                        </a:rPr>
                        <a:t>control</a:t>
                      </a:r>
                    </a:p>
                  </a:txBody>
                  <a:tcPr marT="25400" marB="25400" marL="76200" marR="76200">
                    <a:solidFill>
                      <a:srgbClr val="F4E6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7"/>
                          </a:solidFill>
                          <a:latin typeface="Segoe UI"/>
                        </a:rPr>
                        <a:t>subset</a:t>
                      </a:r>
                    </a:p>
                  </a:txBody>
                  <a:tcPr marT="25400" marB="25400" marL="76200" marR="76200">
                    <a:solidFill>
                      <a:srgbClr val="F4E6D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gquad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pqsfinder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T="25400" marB="254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STEP 6  ·  U3 EXTRACTION &amp; MOTIF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Challenges &amp; resolutions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F8D85"/>
                </a:solidFill>
                <a:latin typeface="Segoe U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600200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600200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Inherited the Illumina-arm motif fixes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565550"/>
                </a:solidFill>
                <a:latin typeface="Segoe UI"/>
              </a:rPr>
              <a:t>The stderr-swallowing logging bug, REPO_ROOT path fix, lowercase→uppercase U3, and JASPAR-via-REST sourcing were already fixed and reused. </a:t>
            </a:r>
            <a:r>
              <a:rPr sz="1250" b="1" i="0">
                <a:solidFill>
                  <a:srgbClr val="0CA30C"/>
                </a:solidFill>
                <a:latin typeface="Segoe UI"/>
              </a:rPr>
              <a:t>PacBio motif scan ran clean and passed the HXB2 positive control for every tool.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3063239"/>
            <a:ext cx="38100" cy="1298448"/>
          </a:xfrm>
          <a:prstGeom prst="rect">
            <a:avLst/>
          </a:prstGeom>
          <a:solidFill>
            <a:srgbClr val="C8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" y="3063239"/>
            <a:ext cx="10963656" cy="1298448"/>
          </a:xfrm>
          <a:prstGeom prst="rect">
            <a:avLst/>
          </a:prstGeom>
          <a:solidFill>
            <a:srgbClr val="FCFCFB"/>
          </a:solidFill>
          <a:ln w="9525">
            <a:solidFill>
              <a:srgbClr val="E6E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/>
            <a:r>
              <a:rPr sz="1300" b="1" i="0">
                <a:solidFill>
                  <a:srgbClr val="1A1A17"/>
                </a:solidFill>
                <a:latin typeface="Segoe UI"/>
              </a:rPr>
              <a:t>Reference-filled consensus can inflate apparent conservation of motif sites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565550"/>
                </a:solidFill>
                <a:latin typeface="Segoe UI"/>
              </a:rPr>
              <a:t>U3 motifs partly reflect HXB2 where reads didn't cover. </a:t>
            </a:r>
            <a:r>
              <a:rPr sz="1250" b="1" i="0">
                <a:solidFill>
                  <a:srgbClr val="0CA30C"/>
                </a:solidFill>
                <a:latin typeface="Segoe UI"/>
              </a:rPr>
              <a:t>Per-factor counts are reported as tool-comparison signal; biological calls await fuller-coverage reads / the full cohort.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