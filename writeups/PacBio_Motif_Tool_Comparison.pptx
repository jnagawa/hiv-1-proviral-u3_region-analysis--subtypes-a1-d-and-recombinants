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Relationship Id="rId14" Type="http://schemas.openxmlformats.org/officeDocument/2006/relationships/presProps" Target="presProps.xml"/><Relationship Id="rId15" Type="http://schemas.openxmlformats.org/officeDocument/2006/relationships/viewProps" Target="viewProps.xml"/>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HIV-1 U3 ANALYSIS  ·  PACBIO HIV-SMRTcap ARM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Motif-mapping tool comparison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Do different motif tools find the same sites, in the same places?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1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TFBS scanners:  FIMO  vs  TFBSTools  (with MOODS as a third view)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52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G-quadruplex predictors:  gquad  vs  pqsfinder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01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Scope: 4 SMRTcap samples (124_4, 128_5, 203_3, 211_0) + HXB2 reference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35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Pipeline re-run end-to-end: extraction -&gt; assembly -&gt; MSA -&gt; motif mapping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68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Every stage submitted as a Slurm job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WHY THIS ANALYSIS WAS NEEDED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Hit counts cannot answer the question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The existing harness records only HOW MANY sites each tool found.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1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Two tools can each report 40 sites and share not one of them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52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A count tells you nothing about agreement on POSITION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301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So each tool's output was normalised to a common interval form and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35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compared position by position.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85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Measured per pair: exact coordinate matches, partial overlaps,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418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tool-unique calls, and base-pair Jaccard overlap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METHOD  ·  THE PART THAT HAD TO BE RIGHT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Tools do not share a coordinate convention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FIMO         fimo.tsv    1-based inclusive     TF symbol   (RELA)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83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TFBSTools    GFF3        1-based inclusive     TF symbol   (RELA)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07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gquad        GFF3        1-based inclusive     --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30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pqsfinder    GFF3        1-based inclusive     --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254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MOODS        CSV         0-BASED, no end col   JASPAR id   (MA0107.1)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293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MOODS differs on BOTH axes and must be translated twice: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27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0-based -&gt; 1-based, and end derived from matched-sequence length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360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JASPAR accession -&gt; TF symbol (mapping built from FIMO's own output)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095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Verified on a shared RELA match: FIMO and TFBSTools both call 350-359,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525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MOODS reports 349. Without the shift every site looks off by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READ THIS BEFORE THE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Only 2 of 4 samples contribute real sequence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The assembly step applies called variants ONTO the HXB2 reference.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1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Positions with no read coverage are emitted as REFERENCE BASES, not 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53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Every consensus is 9719 bp at 0.00% N, whatever the sample covered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86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124_4 reads cover 813-8002 and 8985-9719;  128_5 covers 1593-7030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1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Neither reaches the U3 window, so their U3 is pure HXB2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68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sequence  length  identical_to_HXB2_U3  pct_identity  interpretation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91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K03455.1  453     reference             100.00        the reference itself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415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124_4     453     yes                   100.00        IDENTICAL to HXB2 -- no sample-specific sequence here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38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128_5     453     yes                   100.00        IDENTICAL to HXB2 -- no sample-specific sequence here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62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203_3     453     no                    84.99         sample-specific sequence present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485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211_0     453     no                    86.53         sample-specific sequence present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525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3 of 5 scanned sequences are the SAME sequence. Effective n =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RESULTS  ·  DO THE TOOLS AGREE ON POSITION?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Pairwise concordance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Counts from tool A's perspective. Jaccard is over covered base positions.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19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pair                n_A  n_B  exact_coord_match  partial_overlap  A_only  B_only  bp_jaccard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42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fimo_vs_tfbstools   16   87   16                 0                0       62      0.3077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66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fimo_vs_moods       16   12   11                 0                5       1       0.6821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289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tfbstools_vs_moods  87   12   11                 9                67      1       0.2204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13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gquad_vs_pqsfinder  15   5    0                  5                10      0       0.2946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52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Two very different patterns: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386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TFBS tools agree EXACTLY on position, and differ only in how many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19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sites they report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52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G4 tools agree on REGION but never on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RESULTS  ·  TFBS SCANNERS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FIMO vs TFBSTools: identical coordinates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FIMO calls                 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83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TFBSTools calls            87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07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Exact coordinate matches   16   &lt;- all of FIMO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30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FIMO-only calls            0   &lt;- none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254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TFBSTools-only calls       62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277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Base-pair Jaccard          0.3077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17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FIMO is a STRICT SUBSET of TFBSTools.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351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Where both fire, they agree perfectly on position - not one shifted call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384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The whole difference between them is stringency, not disagreement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17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The low Jaccard reflects TFBSTools' extra breadth, not positional conflict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466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Practical: running both is redundant. FIMO finds no site TFBSTools lacks.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RESULTS  ·  G-QUADRUPLEX PREDICTORS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gquad vs pqsfinder: same place, different extent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gquad predictions          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83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pqsfinder predictions     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07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Exact boundary matches     0   &lt;- none, ever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30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Partial overlaps           5   &lt;- every pqsfinder call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254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gquad-only                 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277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pqsfinder-only            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17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They agree on WHERE quadruplexes are and never on how far they extend.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367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203_3   gquad      349-402   (54 bp)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390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203_3   pqsfinder  363-402   (40 bp)   &lt;- same right edge, later start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30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Not interchangeable: pqsfinder emits one fixed 40 bp call per sequence,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464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gquad emits several of 30-54 bp.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GROUND TRUTH  ·  HXB2 POSITIVE CONTROL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Recovery of known LTR elements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HXB2's U3 has literature-established elements: 2x NF-kB, 3x Sp1, TATA.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19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landmark  u3_start  u3_end  fimo  tfbstools  moods  gquad  pqsfinder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42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NFkB-II   350       359     yes   yes        yes    yes    -        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66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NFkB-I    364       373     yes   yes        yes    yes    yes      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289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Sp1-III   376       386     -     yes        -      yes    yes   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13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Sp1-II    387       397     yes   yes        -      yes    yes   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365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Sp1-I     398       408     -     yes        -      yes    yes      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3600000"/>
            <a:ext cx="11064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A1A17"/>
                </a:solidFill>
                <a:latin typeface="Consolas"/>
              </a:rPr>
              <a:t>TATA      426       430     -     yes        -      -      -       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399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FIMO misses the TATA box and two of the three Sp1 sites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32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G4 columns shown for completeness - these predict structures, not TFBS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4655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(the GC-rich Sp1/NF-kB region carries documented LTR-III/IV G4s)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INTERPRETATION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What sensitivity and specificity can and cannot mean here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Sensitivity and specificity require a gold standard. None exists for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94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these sample U3 sequences.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44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So the concordance figures are AGREEMENT, not sensitivity.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94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On the only real ground truth (HXB2), TFBSTools is the most sensitive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27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TFBS scanner and FIMO the most conservative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60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Because FIMO's calls are a strict subset, TFBSTools cannot be LESS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93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sensitive than FIMO on any input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442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Specificity cannot be separated from this.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76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TFBSTools' 62 extra calls are either genuine weak sites or false positives,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519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and nothing in this data distinguishes the two. Higher sensitivity with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562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unknown precision is the honest summary - not "TFBSTools is better".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CONCLUSIONS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What to do with these tools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FIMO vs TFBSTools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94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Identical coordinates wherever both call - the choice is stringency only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27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FIMO when false positives are costly; TFBSTools when missing a weak site 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60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Do not report both: FIMO adds nothing TFBSTools lacks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30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gquad vs pqsfinder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43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Same regions, different extents - NOT interchangeable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76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Anything keyed on G4 boundaries changes with the tool chosen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40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Fix one tool for the whole study rather than mixing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58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8603A"/>
                </a:solidFill>
                <a:latin typeface="Segoe UI"/>
              </a:rPr>
              <a:t>Before any biological 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92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Fix the coverage artefact: the consensus step must emit N where read depth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8640" y="526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3261E"/>
                </a:solidFill>
                <a:latin typeface="Segoe UI"/>
              </a:rPr>
              <a:t>is zero, so no sample can silently contribute reference sequence.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C8603A"/>
                </a:solidFill>
                <a:latin typeface="Segoe UI"/>
              </a:rPr>
              <a:t>OPEN ISSUES  ·  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7"/>
                </a:solidFill>
                <a:latin typeface="Segoe UI"/>
              </a:rPr>
              <a:t>Known limitations in the current run</a:t>
            </a:r>
          </a:p>
        </p:txBody>
      </p:sp>
      <p:sp>
        <p:nvSpPr>
          <p:cNvPr id="4" name="Rule 4"/>
          <p:cNvSpPr/>
          <p:nvPr/>
        </p:nvSpPr>
        <p:spPr>
          <a:xfrm>
            <a:off x="576072" y="1371600"/>
            <a:ext cx="713232" cy="38100"/>
          </a:xfrm>
          <a:prstGeom prst="roundRect">
            <a:avLst/>
          </a:prstGeom>
          <a:solidFill>
            <a:srgbClr val="C860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160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Coverage fill-in: mask zero-depth positions before motif scanning, then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193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re-run - this is the blocker on interpreting 124_4 and 128_5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" y="226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Effective n = 2. More SMRTcap samples with U3 coverage are needed before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640" y="259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any cross-sample motif claim holds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292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hifiasm failed on all 4 samples (19-75 reads each); only the minimap2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" y="325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consensus path contributed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640" y="358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peak memory is unmeasured throughout - GNU time is not installed on this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640" y="3910000"/>
            <a:ext cx="11064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7"/>
                </a:solidFill>
                <a:latin typeface="Segoe UI"/>
              </a:rPr>
              <a:t>•     cluster, so summary tables carry runtime only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640" y="440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A curated truth set for these samples would allow real sensitivity 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4830000"/>
            <a:ext cx="1106424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5A52"/>
                </a:solidFill>
                <a:latin typeface="Segoe UI"/>
              </a:rPr>
              <a:t>specificity to replace the agreement figures used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xsi="http://www.w3.org/2001/XMLSchema-instance">
  <dc:title>Motif-mapping tool comparison - PacBio HIV-SMRTcap arm</dc:title>
  <dc:subject>FIMO vs TFBSTools; gquad vs pqsfinder</dc:subject>
  <cp:revision>1</cp:revision>
</cp:coreProperties>
</file>